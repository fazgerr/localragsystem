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49c6e3fd1b4a9d" /><Relationship Type="http://schemas.openxmlformats.org/officeDocument/2006/relationships/extended-properties" Target="/docProps/app.xml" Id="R5f9f29ab9f694427" /><Relationship Type="http://schemas.openxmlformats.org/officeDocument/2006/relationships/officeDocument" Target="/ppt/presentation.xml" Id="Rc34e8301b90046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4825e219204fee"/>
  </p:sldMasterIdLst>
  <p:notesMasterIdLst>
    <p:notesMasterId xmlns:r="http://schemas.openxmlformats.org/officeDocument/2006/relationships" r:id="Rb4fd0645b4b64b51"/>
  </p:notesMasterIdLst>
  <p:sldIdLst>
    <p:sldId xmlns:r="http://schemas.openxmlformats.org/officeDocument/2006/relationships" id="256" r:id="Rb6644ed17fcf46c8"/>
    <p:sldId xmlns:r="http://schemas.openxmlformats.org/officeDocument/2006/relationships" id="257" r:id="Rd364e018b00542cc"/>
    <p:sldId xmlns:r="http://schemas.openxmlformats.org/officeDocument/2006/relationships" id="258" r:id="Raebea69ac6484099"/>
    <p:sldId xmlns:r="http://schemas.openxmlformats.org/officeDocument/2006/relationships" id="259" r:id="R284edf1f5c1446ce"/>
    <p:sldId xmlns:r="http://schemas.openxmlformats.org/officeDocument/2006/relationships" id="260" r:id="R189349ea900746bb"/>
    <p:sldId xmlns:r="http://schemas.openxmlformats.org/officeDocument/2006/relationships" id="261" r:id="R5b4b8aceae5c4a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ea77d678124ed9" /><Relationship Type="http://schemas.openxmlformats.org/officeDocument/2006/relationships/slideMaster" Target="/ppt/slideMasters/slideMaster1.xml" Id="R5f4825e219204fee" /><Relationship Type="http://schemas.openxmlformats.org/officeDocument/2006/relationships/notesMaster" Target="/ppt/notesMasters/notesMaster1.xml" Id="Rb4fd0645b4b64b51" /><Relationship Type="http://schemas.openxmlformats.org/officeDocument/2006/relationships/presProps" Target="/ppt/presProps.xml" Id="Rc3bea9e3ead34002" /><Relationship Type="http://schemas.openxmlformats.org/officeDocument/2006/relationships/tableStyles" Target="/ppt/tableStyles.xml" Id="R2267607a95c848c9" /><Relationship Type="http://schemas.openxmlformats.org/officeDocument/2006/relationships/slide" Target="/ppt/slides/slide1.xml" Id="Rb6644ed17fcf46c8" /><Relationship Type="http://schemas.openxmlformats.org/officeDocument/2006/relationships/slide" Target="/ppt/slides/slide2.xml" Id="Rd364e018b00542cc" /><Relationship Type="http://schemas.openxmlformats.org/officeDocument/2006/relationships/slide" Target="/ppt/slides/slide3.xml" Id="Raebea69ac6484099" /><Relationship Type="http://schemas.openxmlformats.org/officeDocument/2006/relationships/slide" Target="/ppt/slides/slide4.xml" Id="R284edf1f5c1446ce" /><Relationship Type="http://schemas.openxmlformats.org/officeDocument/2006/relationships/slide" Target="/ppt/slides/slide5.xml" Id="R189349ea900746bb" /><Relationship Type="http://schemas.openxmlformats.org/officeDocument/2006/relationships/slide" Target="/ppt/slides/slide6.xml" Id="R5b4b8aceae5c4a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aca3ab398344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0b3f65b1ab4103" /><Relationship Type="http://schemas.openxmlformats.org/officeDocument/2006/relationships/notesMaster" Target="/ppt/notesMasters/notesMaster1.xml" Id="Rd5d602a94d984f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e87c0c402c4632" /><Relationship Type="http://schemas.openxmlformats.org/officeDocument/2006/relationships/notesMaster" Target="/ppt/notesMasters/notesMaster1.xml" Id="R52000ddba30b46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930c945d124c27" /><Relationship Type="http://schemas.openxmlformats.org/officeDocument/2006/relationships/notesMaster" Target="/ppt/notesMasters/notesMaster1.xml" Id="R87b3e1dbb10244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dedf691a244f90" /><Relationship Type="http://schemas.openxmlformats.org/officeDocument/2006/relationships/notesMaster" Target="/ppt/notesMasters/notesMaster1.xml" Id="Reb332d6150d540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d8f366bedb4805" /><Relationship Type="http://schemas.openxmlformats.org/officeDocument/2006/relationships/notesMaster" Target="/ppt/notesMasters/notesMaster1.xml" Id="R6cd3dd5abb2b4d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dcef6466dd4480" /><Relationship Type="http://schemas.openxmlformats.org/officeDocument/2006/relationships/notesMaster" Target="/ppt/notesMasters/notesMaster1.xml" Id="R5317959eaa8249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Bugün yalnızca bir chatbot göstermiyorum.</a:t>
            </a:r>
          </a:p>
          <a:p xmlns:a="http://schemas.openxmlformats.org/drawingml/2006/main">
            <a:r>
              <a:t>AGÜ staj belgelerinde kanıt bulan, yerel çalışan ve kaynak yoksa cevap uydurmayan bir sistem gösteriyorum.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Project README.md; 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Belgeler mevcut; asıl sorun öğrencinin doğru kuralı doğru belgeden bulması.</a:t>
            </a:r>
          </a:p>
          <a:p xmlns:a="http://schemas.openxmlformats.org/drawingml/2006/main">
            <a:r>
              <a:t>Genel amaçlı bir model kulağa doğru gelen ama kaynaksız cevap verebilir.</a:t>
            </a:r>
          </a:p>
          <a:p xmlns:a="http://schemas.openxmlformats.org/drawingml/2006/main">
            <a:r>
              <a:t>Bu yüzden sistemi cevap üretmekten önce kanıt bulacak şekilde tasarladım.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Project docs/; sources/manifest.json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Soru önce Türkçe normalizasyondan geçiyor.</a:t>
            </a:r>
          </a:p>
          <a:p xmlns:a="http://schemas.openxmlformats.org/drawingml/2006/main">
            <a:r>
              <a:t>Embedding ile semantik adaylar, sözcüksel puanla destekleniyor.</a:t>
            </a:r>
          </a:p>
          <a:p xmlns:a="http://schemas.openxmlformats.org/drawingml/2006/main">
            <a:r>
              <a:t>Seçilen kanıt yerel Qwen modeline veriliyor.</a:t>
            </a:r>
          </a:p>
          <a:p xmlns:a="http://schemas.openxmlformats.org/drawingml/2006/main">
            <a:r>
              <a:t>Son katman sayıları, tarihleri ve kritik iddiaları tekrar doğruluyor.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ARCHITECTURE.md; package.json; src/queryEngine.js; src/answerGuard.js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 projenin en önemli özelliğini gösteriyor.</a:t>
            </a:r>
          </a:p>
          <a:p xmlns:a="http://schemas.openxmlformats.org/drawingml/2006/main">
            <a:r>
              <a:t>Kaynakta olan soruda somut kanıt ve kaynak adı dönüyor.</a:t>
            </a:r>
          </a:p>
          <a:p xmlns:a="http://schemas.openxmlformats.org/drawingml/2006/main">
            <a:r>
              <a:t>Kaynakta olmayan güncel tarih için model tahmin yürütmüyor.</a:t>
            </a:r>
          </a:p>
          <a:p xmlns:a="http://schemas.openxmlformats.org/drawingml/2006/main">
            <a:r>
              <a:t>Hava durumu gibi alan dışı sorularda modeli gereksiz yere çağırmıyor.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KABUL_KRITERLERI.md; test/answerGuard.test.js; test/queryEngine.test.js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paketi retrieval, kaynak bütünlüğü, HTTP API, model hatası ve güvenlik davranışlarını kapsıyor.</a:t>
            </a:r>
          </a:p>
          <a:p xmlns:a="http://schemas.openxmlformats.org/drawingml/2006/main">
            <a:r>
              <a:t>Tanılama gerçek bilgisayarda 10 kontrolün tamamını geçti.</a:t>
            </a:r>
          </a:p>
          <a:p xmlns:a="http://schemas.openxmlformats.org/drawingml/2006/main">
            <a:r>
              <a:t>Ingest işlemi 17 belgeyi 30 kararlı pasaja dönüştürdü.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TEST_REPORT.md; QUALITY_REPORT.md; runtime validation output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Canlı demoda önce staj sayısını, sonra başvuru belgelerini soruyorum.</a:t>
            </a:r>
          </a:p>
          <a:p xmlns:a="http://schemas.openxmlformats.org/drawingml/2006/main">
            <a:r>
              <a:t>Ardından kaynakta olmayan 2027 tarihini ve alan dışı hava durumunu gösteriyorum.</a:t>
            </a:r>
          </a:p>
          <a:p xmlns:a="http://schemas.openxmlformats.org/drawingml/2006/main">
            <a:r>
              <a:t>Kapanış: Bu çalışma cevap üretmek için değil, güvenilir cevap üretmek için tasarlandı.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DEMO_REHBERI.md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542bb554941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f06edd82084aa2" /><Relationship Type="http://schemas.openxmlformats.org/officeDocument/2006/relationships/slideLayout" Target="/ppt/slideLayouts/slideLayout1.xml" Id="Rb06a37a5c1b342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6a37a5c1b342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c764386b44e84" /><Relationship Type="http://schemas.openxmlformats.org/officeDocument/2006/relationships/notesSlide" Target="/ppt/notesSlides/notesSlide1.xml" Id="R00c661c1e43f48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3f3f0bfe24be0" /><Relationship Type="http://schemas.openxmlformats.org/officeDocument/2006/relationships/notesSlide" Target="/ppt/notesSlides/notesSlide2.xml" Id="R71bb0ed424df48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bc94015b94cb5" /><Relationship Type="http://schemas.openxmlformats.org/officeDocument/2006/relationships/notesSlide" Target="/ppt/notesSlides/notesSlide3.xml" Id="R3ce007e9f82747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af6f82ef443b2" /><Relationship Type="http://schemas.openxmlformats.org/officeDocument/2006/relationships/notesSlide" Target="/ppt/notesSlides/notesSlide4.xml" Id="Rb1ea13444cf240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c9657437245ec" /><Relationship Type="http://schemas.openxmlformats.org/officeDocument/2006/relationships/notesSlide" Target="/ppt/notesSlides/notesSlide5.xml" Id="Rfd3031cdf3714c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9fc858b5b4d6b" /><Relationship Type="http://schemas.openxmlformats.org/officeDocument/2006/relationships/notesSlide" Target="/ppt/notesSlides/notesSlide6.xml" Id="Reeebaabc14b749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7BD9F323-18CC-4E51-BC64-34D50950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MICROSOFT FOUNDRY LOCAL · RAG · NODE.JS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F7CA175-15AE-47FF-A719-F26F2B7D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AGÜ IE</a:t>
            </a:r>
          </a:p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Staj Asistanı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A994755-F0B6-435E-878D-4B9E8335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AGÜ Endüstri Mühendisliği için kaynak yoksa cevap vermemeyi bilen, tamamen yerel Türkçe bilgi asistanı</a:t>
            </a:r>
          </a:p>
        </p:txBody>
      </p:sp>
      <p:sp>
        <p:nvSpPr>
          <p:cNvPr id="4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0FCB62F9-E79B-403E-8B6F-FE7C44F1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version">
            <a:extLst xmlns:a="http://schemas.openxmlformats.org/drawingml/2006/main">
              <a:ext uri="{FF2B5EF4-FFF2-40B4-BE49-F238E27FC236}">
                <a16:creationId xmlns:a16="http://schemas.microsoft.com/office/drawing/2014/main" id="{9C408FF2-8EC7-4D52-B1A3-D881DA35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150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v4.0.6</a:t>
            </a:r>
          </a:p>
        </p:txBody>
      </p:sp>
    </p:spTree>
    <p:extLst>
      <p:ext uri="{BB962C8B-B14F-4D97-AF65-F5344CB8AC3E}">
        <p14:creationId xmlns:p14="http://schemas.microsoft.com/office/powerpoint/2010/main" val="947871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2">
            <a:extLst xmlns:a="http://schemas.openxmlformats.org/drawingml/2006/main">
              <a:ext uri="{FF2B5EF4-FFF2-40B4-BE49-F238E27FC236}">
                <a16:creationId xmlns:a16="http://schemas.microsoft.com/office/drawing/2014/main" id="{E53A28F4-64AB-49BD-9973-14FF7919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Sorun bilgi eksikliği değil, güvenilir erişim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20F8817C-26F4-433A-AEC0-ACEDFF06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problem-big">
            <a:extLst xmlns:a="http://schemas.openxmlformats.org/drawingml/2006/main">
              <a:ext uri="{FF2B5EF4-FFF2-40B4-BE49-F238E27FC236}">
                <a16:creationId xmlns:a16="http://schemas.microsoft.com/office/drawing/2014/main" id="{7F23B1B5-7F7E-421A-BD9C-48802D4E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E0E4D910-CF2E-416B-8193-0CCB1E51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yapılandırılmış belge</a:t>
            </a:r>
          </a:p>
        </p:txBody>
      </p:sp>
      <p:sp>
        <p:nvSpPr>
          <p:cNvPr id="5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9DCF3706-DF5A-48FE-90E8-02FC7716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Kurallar; kılavuz, form, rapor şablonu ve rubriklere dağılmış durumda.</a:t>
            </a:r>
          </a:p>
        </p:txBody>
      </p:sp>
      <p:sp>
        <p:nvSpPr>
          <p:cNvPr id="6" name="solution-panel">
            <a:extLst xmlns:a="http://schemas.openxmlformats.org/drawingml/2006/main">
              <a:ext uri="{FF2B5EF4-FFF2-40B4-BE49-F238E27FC236}">
                <a16:creationId xmlns:a16="http://schemas.microsoft.com/office/drawing/2014/main" id="{4FD2753E-11C7-4CCD-80C1-B9B5A11D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3340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solution-head">
            <a:extLst xmlns:a="http://schemas.openxmlformats.org/drawingml/2006/main">
              <a:ext uri="{FF2B5EF4-FFF2-40B4-BE49-F238E27FC236}">
                <a16:creationId xmlns:a16="http://schemas.microsoft.com/office/drawing/2014/main" id="{25F5FD5F-D0A5-409E-9026-62E94A38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Çözüm</a:t>
            </a:r>
          </a:p>
        </p:txBody>
      </p:sp>
      <p:sp>
        <p:nvSpPr>
          <p:cNvPr id="8" name="solution-copy">
            <a:extLst xmlns:a="http://schemas.openxmlformats.org/drawingml/2006/main">
              <a:ext uri="{FF2B5EF4-FFF2-40B4-BE49-F238E27FC236}">
                <a16:creationId xmlns:a16="http://schemas.microsoft.com/office/drawing/2014/main" id="{4E2A80E2-7630-441C-9134-83471B48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409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Soruyu anla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Kanıt pasajını bul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Yerel modelle yanıtla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İddiayı kaynakla doğrula</a:t>
            </a:r>
          </a:p>
        </p:txBody>
      </p:sp>
    </p:spTree>
    <p:extLst>
      <p:ext uri="{BB962C8B-B14F-4D97-AF65-F5344CB8AC3E}">
        <p14:creationId xmlns:p14="http://schemas.microsoft.com/office/powerpoint/2010/main" val="1509623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3">
            <a:extLst xmlns:a="http://schemas.openxmlformats.org/drawingml/2006/main">
              <a:ext uri="{FF2B5EF4-FFF2-40B4-BE49-F238E27FC236}">
                <a16:creationId xmlns:a16="http://schemas.microsoft.com/office/drawing/2014/main" id="{B35A6896-99F4-486F-9C2B-5BFF48F1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Her yanıt kanıttan geçerek kullanıcıya ulaşır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77EEED33-83D8-4BFD-A2B2-6C618477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edge-0">
            <a:extLst xmlns:a="http://schemas.openxmlformats.org/drawingml/2006/main">
              <a:ext uri="{FF2B5EF4-FFF2-40B4-BE49-F238E27FC236}">
                <a16:creationId xmlns:a16="http://schemas.microsoft.com/office/drawing/2014/main" id="{05BFADDD-2375-4EA9-BB23-B47C40D2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813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node-0">
            <a:extLst xmlns:a="http://schemas.openxmlformats.org/drawingml/2006/main">
              <a:ext uri="{FF2B5EF4-FFF2-40B4-BE49-F238E27FC236}">
                <a16:creationId xmlns:a16="http://schemas.microsoft.com/office/drawing/2014/main" id="{8C39E035-8B3D-4F89-A278-65273E1A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809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ode-label-0">
            <a:extLst xmlns:a="http://schemas.openxmlformats.org/drawingml/2006/main">
              <a:ext uri="{FF2B5EF4-FFF2-40B4-BE49-F238E27FC236}">
                <a16:creationId xmlns:a16="http://schemas.microsoft.com/office/drawing/2014/main" id="{1FB8B1F4-EAEE-4E58-A2E9-53422DAF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Türkçe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soru</a:t>
            </a:r>
          </a:p>
        </p:txBody>
      </p:sp>
      <p:sp>
        <p:nvSpPr>
          <p:cNvPr id="6" name="edge-1">
            <a:extLst xmlns:a="http://schemas.openxmlformats.org/drawingml/2006/main">
              <a:ext uri="{FF2B5EF4-FFF2-40B4-BE49-F238E27FC236}">
                <a16:creationId xmlns:a16="http://schemas.microsoft.com/office/drawing/2014/main" id="{0CA4C45A-EF52-42EA-B6FD-351EDD6A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node-1">
            <a:extLst xmlns:a="http://schemas.openxmlformats.org/drawingml/2006/main">
              <a:ext uri="{FF2B5EF4-FFF2-40B4-BE49-F238E27FC236}">
                <a16:creationId xmlns:a16="http://schemas.microsoft.com/office/drawing/2014/main" id="{CE9B8C23-15DE-48B6-8A73-7ED7D480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0"/>
            <a:ext cx="1809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node-label-1">
            <a:extLst xmlns:a="http://schemas.openxmlformats.org/drawingml/2006/main">
              <a:ext uri="{FF2B5EF4-FFF2-40B4-BE49-F238E27FC236}">
                <a16:creationId xmlns:a16="http://schemas.microsoft.com/office/drawing/2014/main" id="{B9C1E9CA-5A42-41BA-844B-39BA0246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1024D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embedding</a:t>
            </a:r>
          </a:p>
        </p:txBody>
      </p:sp>
      <p:sp>
        <p:nvSpPr>
          <p:cNvPr id="9" name="edge-2">
            <a:extLst xmlns:a="http://schemas.openxmlformats.org/drawingml/2006/main">
              <a:ext uri="{FF2B5EF4-FFF2-40B4-BE49-F238E27FC236}">
                <a16:creationId xmlns:a16="http://schemas.microsoft.com/office/drawing/2014/main" id="{B11E1265-73DE-4E54-BF91-D977FCD4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813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node-2">
            <a:extLst xmlns:a="http://schemas.openxmlformats.org/drawingml/2006/main">
              <a:ext uri="{FF2B5EF4-FFF2-40B4-BE49-F238E27FC236}">
                <a16:creationId xmlns:a16="http://schemas.microsoft.com/office/drawing/2014/main" id="{738082DB-6784-4E13-B9BA-E8E3F582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81250"/>
            <a:ext cx="1809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node-label-2">
            <a:extLst xmlns:a="http://schemas.openxmlformats.org/drawingml/2006/main">
              <a:ext uri="{FF2B5EF4-FFF2-40B4-BE49-F238E27FC236}">
                <a16:creationId xmlns:a16="http://schemas.microsoft.com/office/drawing/2014/main" id="{368FD54B-D560-4302-8401-0FFACF3F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SQLite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2" name="edge-3">
            <a:extLst xmlns:a="http://schemas.openxmlformats.org/drawingml/2006/main">
              <a:ext uri="{FF2B5EF4-FFF2-40B4-BE49-F238E27FC236}">
                <a16:creationId xmlns:a16="http://schemas.microsoft.com/office/drawing/2014/main" id="{205D4EC8-6E70-42BC-B138-53C53CE1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8135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node-3">
            <a:extLst xmlns:a="http://schemas.openxmlformats.org/drawingml/2006/main">
              <a:ext uri="{FF2B5EF4-FFF2-40B4-BE49-F238E27FC236}">
                <a16:creationId xmlns:a16="http://schemas.microsoft.com/office/drawing/2014/main" id="{5648BA1E-2D60-4358-99CA-AB5E6F48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1809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4" name="node-label-3">
            <a:extLst xmlns:a="http://schemas.openxmlformats.org/drawingml/2006/main">
              <a:ext uri="{FF2B5EF4-FFF2-40B4-BE49-F238E27FC236}">
                <a16:creationId xmlns:a16="http://schemas.microsoft.com/office/drawing/2014/main" id="{1556753B-B0D0-4D1D-A5AD-285158BC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Yerel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Qwen</a:t>
            </a:r>
          </a:p>
        </p:txBody>
      </p:sp>
      <p:sp>
        <p:nvSpPr>
          <p:cNvPr id="15" name="node-4">
            <a:extLst xmlns:a="http://schemas.openxmlformats.org/drawingml/2006/main">
              <a:ext uri="{FF2B5EF4-FFF2-40B4-BE49-F238E27FC236}">
                <a16:creationId xmlns:a16="http://schemas.microsoft.com/office/drawing/2014/main" id="{47600BAC-3D98-4E76-88BF-B45712DC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809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node-label-4">
            <a:extLst xmlns:a="http://schemas.openxmlformats.org/drawingml/2006/main">
              <a:ext uri="{FF2B5EF4-FFF2-40B4-BE49-F238E27FC236}">
                <a16:creationId xmlns:a16="http://schemas.microsoft.com/office/drawing/2014/main" id="{E913EA26-A44C-401A-A2C8-423B9B5D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Cevap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koruması</a:t>
            </a:r>
          </a:p>
        </p:txBody>
      </p:sp>
      <p:sp>
        <p:nvSpPr>
          <p:cNvPr id="17" name="arch-caption">
            <a:extLst xmlns:a="http://schemas.openxmlformats.org/drawingml/2006/main">
              <a:ext uri="{FF2B5EF4-FFF2-40B4-BE49-F238E27FC236}">
                <a16:creationId xmlns:a16="http://schemas.microsoft.com/office/drawing/2014/main" id="{0EB0C9AA-572D-43F7-B1DF-4BE006A5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Chat ve embedding modelleri cihazda çalışır; soru ve belge dış servise gönderilmez.</a:t>
            </a:r>
          </a:p>
        </p:txBody>
      </p:sp>
    </p:spTree>
    <p:extLst>
      <p:ext uri="{BB962C8B-B14F-4D97-AF65-F5344CB8AC3E}">
        <p14:creationId xmlns:p14="http://schemas.microsoft.com/office/powerpoint/2010/main" val="12035559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4">
            <a:extLst xmlns:a="http://schemas.openxmlformats.org/drawingml/2006/main">
              <a:ext uri="{FF2B5EF4-FFF2-40B4-BE49-F238E27FC236}">
                <a16:creationId xmlns:a16="http://schemas.microsoft.com/office/drawing/2014/main" id="{BC9438C1-DCD5-4716-BCEC-F6FD2398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Farkımız: doğru cevap kadar doğru sessizlik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6370F02E-2D20-4AA8-A3A0-AFB760DA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known-label">
            <a:extLst xmlns:a="http://schemas.openxmlformats.org/drawingml/2006/main">
              <a:ext uri="{FF2B5EF4-FFF2-40B4-BE49-F238E27FC236}">
                <a16:creationId xmlns:a16="http://schemas.microsoft.com/office/drawing/2014/main" id="{35B3A678-C435-45B5-BFE0-6C9DE887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87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8754"/>
                </a:solidFill>
                <a:latin typeface="Arial"/>
                <a:ea typeface="Arial"/>
                <a:cs typeface="Arial"/>
              </a:rPr>
              <a:t>KAYNAKTA VAR</a:t>
            </a:r>
          </a:p>
        </p:txBody>
      </p:sp>
      <p:sp>
        <p:nvSpPr>
          <p:cNvPr id="4" name="known-q">
            <a:extLst xmlns:a="http://schemas.openxmlformats.org/drawingml/2006/main">
              <a:ext uri="{FF2B5EF4-FFF2-40B4-BE49-F238E27FC236}">
                <a16:creationId xmlns:a16="http://schemas.microsoft.com/office/drawing/2014/main" id="{26F1EC13-2FDF-493E-AB6C-C0756D27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“Kaç ayrı staj var?”</a:t>
            </a:r>
          </a:p>
        </p:txBody>
      </p:sp>
      <p:sp>
        <p:nvSpPr>
          <p:cNvPr id="5" name="known-a">
            <a:extLst xmlns:a="http://schemas.openxmlformats.org/drawingml/2006/main">
              <a:ext uri="{FF2B5EF4-FFF2-40B4-BE49-F238E27FC236}">
                <a16:creationId xmlns:a16="http://schemas.microsoft.com/office/drawing/2014/main" id="{5E433739-4214-4D9B-BC89-269AE5EA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IE 197 · IE 297 · IE 397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aşama · 80 iş günü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111133CA-5928-41B6-AB8F-5DBE602B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unknown-label">
            <a:extLst xmlns:a="http://schemas.openxmlformats.org/drawingml/2006/main">
              <a:ext uri="{FF2B5EF4-FFF2-40B4-BE49-F238E27FC236}">
                <a16:creationId xmlns:a16="http://schemas.microsoft.com/office/drawing/2014/main" id="{1CDE2789-02CF-412F-BD54-29C64592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KAYNAKTA YOK</a:t>
            </a:r>
          </a:p>
        </p:txBody>
      </p:sp>
      <p:sp>
        <p:nvSpPr>
          <p:cNvPr id="8" name="unknown-q">
            <a:extLst xmlns:a="http://schemas.openxmlformats.org/drawingml/2006/main">
              <a:ext uri="{FF2B5EF4-FFF2-40B4-BE49-F238E27FC236}">
                <a16:creationId xmlns:a16="http://schemas.microsoft.com/office/drawing/2014/main" id="{EAF72104-DC10-42BC-BCAB-B76B0287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“2027 son tarih nedir?”</a:t>
            </a:r>
          </a:p>
        </p:txBody>
      </p:sp>
      <p:sp>
        <p:nvSpPr>
          <p:cNvPr id="9" name="unknown-a">
            <a:extLst xmlns:a="http://schemas.openxmlformats.org/drawingml/2006/main">
              <a:ext uri="{FF2B5EF4-FFF2-40B4-BE49-F238E27FC236}">
                <a16:creationId xmlns:a16="http://schemas.microsoft.com/office/drawing/2014/main" id="{F82D9783-D675-4B6B-9B1C-F18C10FC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Tarih uydurmaz.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Güvenli fallback verir.</a:t>
            </a:r>
          </a:p>
        </p:txBody>
      </p:sp>
      <p:sp>
        <p:nvSpPr>
          <p:cNvPr id="10" name="guardline">
            <a:extLst xmlns:a="http://schemas.openxmlformats.org/drawingml/2006/main">
              <a:ext uri="{FF2B5EF4-FFF2-40B4-BE49-F238E27FC236}">
                <a16:creationId xmlns:a16="http://schemas.microsoft.com/office/drawing/2014/main" id="{DB18437F-ABC3-4EC6-8585-87AAA1BA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Prompt injection · yanlış sayı · model hatası · kapsam dışı soru</a:t>
            </a:r>
          </a:p>
        </p:txBody>
      </p:sp>
    </p:spTree>
    <p:extLst>
      <p:ext uri="{BB962C8B-B14F-4D97-AF65-F5344CB8AC3E}">
        <p14:creationId xmlns:p14="http://schemas.microsoft.com/office/powerpoint/2010/main" val="2059478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5">
            <a:extLst xmlns:a="http://schemas.openxmlformats.org/drawingml/2006/main">
              <a:ext uri="{FF2B5EF4-FFF2-40B4-BE49-F238E27FC236}">
                <a16:creationId xmlns:a16="http://schemas.microsoft.com/office/drawing/2014/main" id="{8EC5C69C-0D0C-4740-B36E-4C485896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Çalıştığını iddia etmiyoruz; ölçüyoruz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CB00CA03-25B3-4BE5-9D2D-ABBF400C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metric-0">
            <a:extLst xmlns:a="http://schemas.openxmlformats.org/drawingml/2006/main">
              <a:ext uri="{FF2B5EF4-FFF2-40B4-BE49-F238E27FC236}">
                <a16:creationId xmlns:a16="http://schemas.microsoft.com/office/drawing/2014/main" id="{FC1A8FBF-01EA-4ECC-ADED-DDB4660F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metric-n-0">
            <a:extLst xmlns:a="http://schemas.openxmlformats.org/drawingml/2006/main">
              <a:ext uri="{FF2B5EF4-FFF2-40B4-BE49-F238E27FC236}">
                <a16:creationId xmlns:a16="http://schemas.microsoft.com/office/drawing/2014/main" id="{6F9E414C-C93C-427E-AC13-727912A1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126/126</a:t>
            </a:r>
          </a:p>
        </p:txBody>
      </p:sp>
      <p:sp>
        <p:nvSpPr>
          <p:cNvPr id="5" name="metric-l-0">
            <a:extLst xmlns:a="http://schemas.openxmlformats.org/drawingml/2006/main">
              <a:ext uri="{FF2B5EF4-FFF2-40B4-BE49-F238E27FC236}">
                <a16:creationId xmlns:a16="http://schemas.microsoft.com/office/drawing/2014/main" id="{DC3DE330-470B-494A-B1F8-F2A70040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otomatik test</a:t>
            </a:r>
          </a:p>
        </p:txBody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473FE063-E196-460F-8822-F91C9615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7650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metric-n-1">
            <a:extLst xmlns:a="http://schemas.openxmlformats.org/drawingml/2006/main">
              <a:ext uri="{FF2B5EF4-FFF2-40B4-BE49-F238E27FC236}">
                <a16:creationId xmlns:a16="http://schemas.microsoft.com/office/drawing/2014/main" id="{F808D2C3-9C4A-4FD5-A3F5-05C5350D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48000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10/10</a:t>
            </a:r>
          </a:p>
        </p:txBody>
      </p:sp>
      <p:sp>
        <p:nvSpPr>
          <p:cNvPr id="8" name="metric-l-1">
            <a:extLst xmlns:a="http://schemas.openxmlformats.org/drawingml/2006/main">
              <a:ext uri="{FF2B5EF4-FFF2-40B4-BE49-F238E27FC236}">
                <a16:creationId xmlns:a16="http://schemas.microsoft.com/office/drawing/2014/main" id="{459AEBCF-23D1-4B15-8FA8-2871362A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81500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tanılama kontrolü</a:t>
            </a:r>
          </a:p>
        </p:txBody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EECB721E-238E-47EE-87DA-C8B971D0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0" name="metric-n-2">
            <a:extLst xmlns:a="http://schemas.openxmlformats.org/drawingml/2006/main">
              <a:ext uri="{FF2B5EF4-FFF2-40B4-BE49-F238E27FC236}">
                <a16:creationId xmlns:a16="http://schemas.microsoft.com/office/drawing/2014/main" id="{F4ECDCEE-A185-451D-9C6D-D3F84637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1" name="metric-l-2">
            <a:extLst xmlns:a="http://schemas.openxmlformats.org/drawingml/2006/main">
              <a:ext uri="{FF2B5EF4-FFF2-40B4-BE49-F238E27FC236}">
                <a16:creationId xmlns:a16="http://schemas.microsoft.com/office/drawing/2014/main" id="{C15DA923-D366-4234-A672-52530CC1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81500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kanıt pasajı</a:t>
            </a:r>
          </a:p>
        </p:txBody>
      </p:sp>
      <p:sp>
        <p:nvSpPr>
          <p:cNvPr id="12" name="metric-context">
            <a:extLst xmlns:a="http://schemas.openxmlformats.org/drawingml/2006/main">
              <a:ext uri="{FF2B5EF4-FFF2-40B4-BE49-F238E27FC236}">
                <a16:creationId xmlns:a16="http://schemas.microsoft.com/office/drawing/2014/main" id="{2BAC8F1F-3BE8-4C51-9E60-35055399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17 belge · qwen3-embedding-0.6b · qwen2.5-0.5b · tamamen yerel çalışma</a:t>
            </a:r>
          </a:p>
        </p:txBody>
      </p:sp>
    </p:spTree>
    <p:extLst>
      <p:ext uri="{BB962C8B-B14F-4D97-AF65-F5344CB8AC3E}">
        <p14:creationId xmlns:p14="http://schemas.microsoft.com/office/powerpoint/2010/main" val="10121876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9CDF8508-8684-4AC9-91E5-52B6A211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CANLI DEMO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A2C82DF-0707-4575-951D-8D8FA605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857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Yerel. Kaynaklı.</a:t>
            </a:r>
          </a:p>
          <a:p xmlns:a="http://schemas.openxmlformats.org/drawingml/2006/main">
            <a:pPr algn="l">
              <a:defRPr sz="5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Savunulabilir.</a:t>
            </a:r>
          </a:p>
        </p:txBody>
      </p:sp>
      <p:sp>
        <p:nvSpPr>
          <p:cNvPr id="3" name="close-copy">
            <a:extLst xmlns:a="http://schemas.openxmlformats.org/drawingml/2006/main">
              <a:ext uri="{FF2B5EF4-FFF2-40B4-BE49-F238E27FC236}">
                <a16:creationId xmlns:a16="http://schemas.microsoft.com/office/drawing/2014/main" id="{B2014937-03A3-4B32-9EA7-C8223286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Bir soruya cevap vermek kolaydır.</a:t>
            </a:r>
          </a:p>
          <a:p xmlns:a="http://schemas.openxmlformats.org/drawingml/2006/main">
            <a:pPr algn="l">
              <a:defRPr sz="21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Kaynak yokken cevap vermemek güvenilirliktir.</a:t>
            </a:r>
          </a:p>
        </p:txBody>
      </p:sp>
      <p:sp>
        <p:nvSpPr>
          <p:cNvPr id="4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31C79115-E05A-49A2-A2CF-A77407A8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close-url">
            <a:extLst xmlns:a="http://schemas.openxmlformats.org/drawingml/2006/main">
              <a:ext uri="{FF2B5EF4-FFF2-40B4-BE49-F238E27FC236}">
                <a16:creationId xmlns:a16="http://schemas.microsoft.com/office/drawing/2014/main" id="{C783DE22-2EEF-4A3E-88AD-69D1F96B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6197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127.0.0.1:3000</a:t>
            </a:r>
          </a:p>
        </p:txBody>
      </p:sp>
    </p:spTree>
    <p:extLst>
      <p:ext uri="{BB962C8B-B14F-4D97-AF65-F5344CB8AC3E}">
        <p14:creationId xmlns:p14="http://schemas.microsoft.com/office/powerpoint/2010/main" val="1803373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2026-09-14T10:32:29.8510000Z</dcterms:created>
  <dcterms:modified xsi:type="dcterms:W3CDTF">2026-09-14T10:32:29.8510000Z</dcterms:modified>
</coreProperties>
</file>